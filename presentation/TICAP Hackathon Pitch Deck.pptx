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555551"/>
            <a:ext cx="21907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3887985"/>
            <a:ext cx="8382000" cy="80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8209" y="2012751"/>
            <a:ext cx="4655581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oppins"/>
              </a:rPr>
              <a:t>TICAP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2838450"/>
            <a:ext cx="9144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575" i="0" u="none">
                <a:solidFill>
                  <a:srgbClr val="CBD5E1"/>
                </a:solidFill>
                <a:latin typeface="Lato"/>
              </a:rPr>
              <a:t>Threat Intelligence Correlation &amp; Alert Prioritisation — Ingesting multi-source feeds, correlating genuine threats, mapping MITRE ATT&amp;CK, and delivering commander-ready BLUF summaries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5837" y="4973835"/>
            <a:ext cx="26003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Lato SemiBold"/>
              </a:rPr>
              <a:t>Presented by Team Bob | 5-Minute Pitch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641276"/>
            <a:ext cx="133350" cy="1238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71700" y="4059435"/>
            <a:ext cx="7886700" cy="45720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E2E8F0"/>
                </a:solidFill>
                <a:latin typeface="Lato"/>
              </a:rPr>
              <a:t> Security analysts receive over 10,000 alerts daily across SIEMs, sensors, satellite feeds, and intel reports. Finding a critical APT activity in this stack isn't just hard — it's humanly impossible.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4097535"/>
            <a:ext cx="14287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5562"/>
            <a:ext cx="3524250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95562"/>
            <a:ext cx="3524250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95562"/>
            <a:ext cx="3524250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4837"/>
            <a:ext cx="2857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852737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3595687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Data Silos &amp; Format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976687"/>
            <a:ext cx="3086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Legacy SIEMs handle syslog and standard JSON formats well, but systematically </a:t>
            </a:r>
            <a:r>
              <a:rPr b="1" sz="1125" i="0" u="none">
                <a:solidFill>
                  <a:srgbClr val="38BDF8"/>
                </a:solidFill>
                <a:latin typeface="Lato"/>
              </a:rPr>
              <a:t>fail to ingest un-structured satellite telemetry (CSV)</a:t>
            </a:r>
            <a:r>
              <a:rPr b="0" sz="1125" i="0" u="none">
                <a:solidFill>
                  <a:srgbClr val="94A3B8"/>
                </a:solidFill>
                <a:latin typeface="Lato"/>
              </a:rPr>
              <a:t> and raw intelligence reports (TXT) into a unified context.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2852737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2950" y="3595687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Crushing Alert 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3976687"/>
            <a:ext cx="3086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Rule-based triage systems generate up to </a:t>
            </a:r>
            <a:r>
              <a:rPr b="1" sz="1125" i="0" u="none">
                <a:solidFill>
                  <a:srgbClr val="38BDF8"/>
                </a:solidFill>
                <a:latin typeface="Lato"/>
              </a:rPr>
              <a:t>98.8% false positives</a:t>
            </a:r>
            <a:r>
              <a:rPr b="0" sz="1125" i="0" u="none">
                <a:solidFill>
                  <a:srgbClr val="94A3B8"/>
                </a:solidFill>
                <a:latin typeface="Lato"/>
              </a:rPr>
              <a:t>. Genuine multi-stage APT attacks get drowned out in noise queues, leading directly to analyst burnout and overlooked breaches.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2852737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5800" y="3595687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Slow Executive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3976687"/>
            <a:ext cx="3086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Converting millions of raw telemetry logs into structured </a:t>
            </a:r>
            <a:r>
              <a:rPr b="1" sz="1125" i="0" u="none">
                <a:solidFill>
                  <a:srgbClr val="38BDF8"/>
                </a:solidFill>
                <a:latin typeface="Lato"/>
              </a:rPr>
              <a:t>Bottom Line Up Front (BLUF) briefings</a:t>
            </a:r>
            <a:r>
              <a:rPr b="0" sz="1125" i="0" u="none">
                <a:solidFill>
                  <a:srgbClr val="94A3B8"/>
                </a:solidFill>
                <a:latin typeface="Lato"/>
              </a:rPr>
              <a:t> for commanders manually takes analysts 2 to 4 hours per security incident.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2967037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4387" y="2967037"/>
            <a:ext cx="4286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0100" y="2967037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125" y="485775"/>
            <a:ext cx="11141392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Why Traditional SOC Tools Fail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0737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04837"/>
            <a:ext cx="2857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100262"/>
            <a:ext cx="53054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643187"/>
            <a:ext cx="4981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Unified Multi-Source Correlation: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Seamlessly ingests disparate feeds (SIEM, Satellite Telemetry, Cyber Sensors, Threat Intel) into a single graph-correlated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81387"/>
            <a:ext cx="4981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Instant False-Positive Filtering: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Reduces alert noise by up to 98.8%, auto-isolating high-confidence threats (&gt;85% confidence score) for immediate triage.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19587"/>
            <a:ext cx="49815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Automated Commander BLUF Generation: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Transforms millions of raw telemetry events into structured, executive-level military-grade briefings in under 3 seconds.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667000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505200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343400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0125" y="485775"/>
            <a:ext cx="11141392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Our Solution — The TICAP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04837"/>
            <a:ext cx="28575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925" y="2486025"/>
            <a:ext cx="1068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Multi-Source Feed Ingestor: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Simultaneously ingests SIEM JSON, Satellite CSV, Cyber Sensor CEF, and Intel TXT files with built-in PII masking and automatic JSON 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3095625"/>
            <a:ext cx="10687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Multi-Layer Correlation Engine: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Links isolated telemetry events (IPs, hashes, satellite GPS anomalies) into unified threat clusters using cross-feed graph clustering.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76625"/>
            <a:ext cx="1068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Automated MITRE ATT&amp;CK Mapping: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Scans payload signatures and command structures against MITRE v15 definitions to auto-highlight kill-chain stages (e.g., T1003.001, T1498).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086225"/>
            <a:ext cx="1068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Instant BLUF Report Generator: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Synthesizes correlated alert clusters into standardized military-grade executive briefings complete with threat level, asset impact, and prioritized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695825"/>
            <a:ext cx="106870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Analyst Command Bar &amp; Live Triage: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Reactive UI allowing analysts to execute CLI queries (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/threat-run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, 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/mitre T1059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) with real-time severity and health updates.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0983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194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500437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110037"/>
            <a:ext cx="1428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719637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125" y="485775"/>
            <a:ext cx="11141392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Core Modules &amp; Engine Breakdown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485775"/>
            <a:ext cx="5100637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What Makes TICAP Unbeatable?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647825"/>
            <a:ext cx="52768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866775"/>
            <a:ext cx="28575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2047875"/>
            <a:ext cx="4933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Cross-Domain Integration: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The only triage assistant designed to correlate defense-grade satellite telemetry anomalies with enterprise endpoint SIEM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886075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Zero-Latency BLUF Synthesis: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Reduces Commander briefing preparation time from 3 hours down to 3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495675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Integrated Command Interface: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Combines interactive graph visualization with analyst CLI capabilities for high-velocity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05275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Proven Noise Reduction: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Cuts through 4,800+ raw feeds down to 23 genuine actionable threats (98.8% reduction).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7168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09887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5194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8900"/>
            <a:ext cx="3524250" cy="1647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28900"/>
            <a:ext cx="3524250" cy="1647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28900"/>
            <a:ext cx="3524250" cy="1647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9712" y="2924175"/>
            <a:ext cx="1666875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2924175"/>
            <a:ext cx="152400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924175"/>
            <a:ext cx="2857500" cy="514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604837"/>
            <a:ext cx="3238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3062" y="3533775"/>
            <a:ext cx="14001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Lato SemiBold"/>
              </a:rPr>
              <a:t>TAM (2026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819525"/>
            <a:ext cx="2438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Lato"/>
              </a:rPr>
              <a:t>Global SIEM &amp; Threat Intelligence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0" y="353377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Lato SemiBold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650" y="3819525"/>
            <a:ext cx="2552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Lato"/>
              </a:rPr>
              <a:t>Defense &amp; Aerospace SOC Market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7812" y="3533775"/>
            <a:ext cx="13620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Lato SemiBold"/>
              </a:rPr>
              <a:t>Mil / Gov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9637" y="3819525"/>
            <a:ext cx="2638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Lato"/>
              </a:rPr>
              <a:t>Aerospace Operations &amp; Mission-Critical 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562475"/>
            <a:ext cx="10687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Lato"/>
              </a:rPr>
              <a:t>Key Market Drivers: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Rapid expansion in commercial/military satellite constellations, escalating nation-state APT campaigns, and a severe global shortage of qualified cybersecurity analysts.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4586287"/>
            <a:ext cx="190500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8225" y="485775"/>
            <a:ext cx="11101387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Addressing a $300B+ Cyber Imperative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69381"/>
            <a:ext cx="5324475" cy="2462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69381"/>
            <a:ext cx="5324475" cy="2462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4837"/>
            <a:ext cx="285750" cy="285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964656"/>
            <a:ext cx="4970621" cy="314325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Tiered Subscriptions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93281"/>
            <a:ext cx="47339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Lato"/>
              </a:rPr>
              <a:t>Tier 1 — SOC Essential:</a:t>
            </a:r>
            <a:r>
              <a:rPr b="0" sz="1275" i="0" u="none">
                <a:solidFill>
                  <a:srgbClr val="94A3B8"/>
                </a:solidFill>
                <a:latin typeface="Lato"/>
              </a:rPr>
              <a:t> Standard SIEM and cyber sensor feed correlation for enterprise security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93356"/>
            <a:ext cx="47339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Lato"/>
              </a:rPr>
              <a:t>Tier 2 — Defense &amp; Orbital:</a:t>
            </a:r>
            <a:r>
              <a:rPr b="0" sz="1275" i="0" u="none">
                <a:solidFill>
                  <a:srgbClr val="94A3B8"/>
                </a:solidFill>
                <a:latin typeface="Lato"/>
              </a:rPr>
              <a:t> Full satellite telemetry ingestion, automated Commander BLUF module, and air-gapped on-premise deployment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964656"/>
            <a:ext cx="4970621" cy="31432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oppins SemiBold"/>
              </a:rPr>
              <a:t>Add-Ons &amp;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393281"/>
            <a:ext cx="47339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Lato"/>
              </a:rPr>
              <a:t>API Volume Add-Ons:</a:t>
            </a:r>
            <a:r>
              <a:rPr b="0" sz="1275" i="0" u="none">
                <a:solidFill>
                  <a:srgbClr val="94A3B8"/>
                </a:solidFill>
                <a:latin typeface="Lato"/>
              </a:rPr>
              <a:t> Flexible usage-based pricing tiers for ultra-high-velocity sensor streams (&gt;1M events/day).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93356"/>
            <a:ext cx="47339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Lato"/>
              </a:rPr>
              <a:t>Professional Services:</a:t>
            </a:r>
            <a:r>
              <a:rPr b="0" sz="1275" i="0" u="none">
                <a:solidFill>
                  <a:srgbClr val="94A3B8"/>
                </a:solidFill>
                <a:latin typeface="Lato"/>
              </a:rPr>
              <a:t> Custom connector engineering for proprietary military satellite telemetry protocols and legacy defense SIEMs.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012281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012281"/>
            <a:ext cx="16192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125" y="485775"/>
            <a:ext cx="11141392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Scalable SaaS &amp; Defense Licensing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81487"/>
            <a:ext cx="2536775" cy="11578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656879"/>
            <a:ext cx="2536775" cy="1148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281487"/>
            <a:ext cx="2536775" cy="11483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656879"/>
            <a:ext cx="2536775" cy="11483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04837"/>
            <a:ext cx="323850" cy="2857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1025" y="4024312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6" y="4443412"/>
            <a:ext cx="232357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oppins SemiBold"/>
              </a:rPr>
              <a:t>0:00 - 0:20 | 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4748212"/>
            <a:ext cx="2212925" cy="52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Lato"/>
              </a:rPr>
              <a:t>Ingestion: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 Feed ingestor receives 4,827 raw alerts across SIEM, Satellite &amp; Intel. Execute 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/threat-run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8635" y="2818804"/>
            <a:ext cx="232357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oppins SemiBold"/>
              </a:rPr>
              <a:t>0:20 - 0:40 |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958" y="3123604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Lato"/>
              </a:rPr>
              <a:t>Correlation: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 Display 98.8% noise filtration. Drill down into CRIT-001 (APT-41 credential dumping).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644" y="4443412"/>
            <a:ext cx="232357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oppins SemiBold"/>
              </a:rPr>
              <a:t>0:40 - 1:00 | 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4967" y="4748212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Lato"/>
              </a:rPr>
              <a:t>MITRE Mapping: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 Navigate to MITRE Matrix tab. Click T1003.001 to view full kill-chain attribution.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652" y="2818804"/>
            <a:ext cx="232357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75" i="0" u="none">
                <a:solidFill>
                  <a:srgbClr val="38BDF8"/>
                </a:solidFill>
                <a:latin typeface="Poppins SemiBold"/>
              </a:rPr>
              <a:t>1:00 - 1:30 | 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975" y="3123604"/>
            <a:ext cx="2212925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Lato"/>
              </a:rPr>
              <a:t>BLUF Output:</a:t>
            </a:r>
            <a:r>
              <a:rPr b="0" sz="975" i="0" u="none">
                <a:solidFill>
                  <a:srgbClr val="94A3B8"/>
                </a:solidFill>
                <a:latin typeface="Lato"/>
              </a:rPr>
              <a:t> Open BLUF Reports tab. Display generated executive briefing ready for commander sign-off.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4162" y="394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5171" y="394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6179" y="394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7188" y="3948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120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225" y="485775"/>
            <a:ext cx="11101387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90-Second Demo Walkthrough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02718"/>
            <a:ext cx="3524250" cy="2395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702718"/>
            <a:ext cx="3524250" cy="2395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702718"/>
            <a:ext cx="3524250" cy="2395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4837"/>
            <a:ext cx="3238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59893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3702843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Q4 2026 — SOAR Playbooks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083843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Autonomous Playbook Execution via SOAR integration for automated firewall rules, endpoint isolation, and instant satellite payload lock-down.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950" y="2959893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2950" y="3702843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Q1 2027 — Air-Gapped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2950" y="4083843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Air-Gapped LLM Integration enabling natural language threat hunting and automated BLUF translation into multi-lingual NATO formats.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5800" y="2959893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5800" y="3702843"/>
            <a:ext cx="324040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Poppins SemiBold"/>
              </a:rPr>
              <a:t>Q2 2027 — Predictive 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083843"/>
            <a:ext cx="3086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Lato"/>
              </a:rPr>
              <a:t>Predictive Attack Path Forecasting using reinforcement learning models trained on historical MITRE ATT&amp;CK adversary tactics.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3074193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4387" y="3074193"/>
            <a:ext cx="4286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0100" y="3074193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8225" y="485775"/>
            <a:ext cx="11101387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Technical Roadmap &amp; Future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12" y="1771650"/>
            <a:ext cx="1704975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0689" y="2228850"/>
            <a:ext cx="4970621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TICAP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962" y="3286125"/>
            <a:ext cx="36480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Lato"/>
              </a:rPr>
              <a:t>Command Clarity at the Speed of Threat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7" y="3933825"/>
            <a:ext cx="6562725" cy="56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3625" y="4876800"/>
            <a:ext cx="2152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Lato"/>
              </a:rPr>
              <a:t> team@ticap-defense.io</a:t>
            </a:r>
            <a:r>
              <a:rPr b="0" sz="1350" i="0" u="none">
                <a:solidFill>
                  <a:srgbClr val="94A3B8"/>
                </a:solidFill>
                <a:latin typeface="Lato"/>
              </a:rPr>
              <a:t> </a:t>
            </a:r>
            <a:r>
              <a:rPr b="0" sz="1350" i="0" u="none">
                <a:solidFill>
                  <a:srgbClr val="94A3B8"/>
                </a:solidFill>
                <a:latin typeface="Lato"/>
              </a:rPr>
              <a:t> github.com/ticap-defense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5162" y="4114800"/>
            <a:ext cx="1381125" cy="2000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Lato"/>
              </a:rPr>
              <a:t>4,827 Raw Feeds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412" y="4119562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3987" y="4114800"/>
            <a:ext cx="1190625" cy="20002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Lato"/>
              </a:rPr>
              <a:t>TICAP Engine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737" y="4119562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2312" y="4114800"/>
            <a:ext cx="1914525" cy="20002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FFFFFF"/>
                </a:solidFill>
                <a:latin typeface="Lato"/>
              </a:rPr>
              <a:t>1 Commander Decision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162" y="4133850"/>
            <a:ext cx="1428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987" y="4133850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312" y="4133850"/>
            <a:ext cx="2000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5725" y="489585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4895850"/>
            <a:ext cx="1619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09762" y="3133725"/>
            <a:ext cx="83724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9762" y="3895725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09762" y="3895725"/>
            <a:ext cx="8372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2" y="32766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05137" y="3283743"/>
            <a:ext cx="7277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https://stackcyber.com/img/posts/cyber-dashboard-750w.jpg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5137" y="3517106"/>
            <a:ext cx="7277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stackcyber.com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762" y="40481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05137" y="4055268"/>
            <a:ext cx="7277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https://www.iiss.org/globalassets/media-library---content--migration/images-delta/comment/analysis/2025/may/oa_27052025_.png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5137" y="4288631"/>
            <a:ext cx="7277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www.iiss.org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123950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